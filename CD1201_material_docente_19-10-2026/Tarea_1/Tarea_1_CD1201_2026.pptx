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Libre Franklin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Rowdies"/>
      <p:regular r:id="rId23"/>
      <p:bold r:id="rId24"/>
    </p:embeddedFont>
    <p:embeddedFont>
      <p:font typeface="Hind Siliguri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owdies-bold.fntdata"/><Relationship Id="rId23" Type="http://schemas.openxmlformats.org/officeDocument/2006/relationships/font" Target="fonts/Rowdie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indSiliguri-bold.fntdata"/><Relationship Id="rId25" Type="http://schemas.openxmlformats.org/officeDocument/2006/relationships/font" Target="fonts/HindSiliguri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LibreFranklin-regular.fntdata"/><Relationship Id="rId14" Type="http://schemas.openxmlformats.org/officeDocument/2006/relationships/slide" Target="slides/slide9.xml"/><Relationship Id="rId17" Type="http://schemas.openxmlformats.org/officeDocument/2006/relationships/font" Target="fonts/LibreFranklin-italic.fntdata"/><Relationship Id="rId16" Type="http://schemas.openxmlformats.org/officeDocument/2006/relationships/font" Target="fonts/LibreFranklin-bold.fntdata"/><Relationship Id="rId19" Type="http://schemas.openxmlformats.org/officeDocument/2006/relationships/font" Target="fonts/Roboto-regular.fntdata"/><Relationship Id="rId18" Type="http://schemas.openxmlformats.org/officeDocument/2006/relationships/font" Target="fonts/LibreFranklin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698e8132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f698e8132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698e8132e_0_12:notes"/>
          <p:cNvSpPr/>
          <p:nvPr>
            <p:ph idx="2" type="sldImg"/>
          </p:nvPr>
        </p:nvSpPr>
        <p:spPr>
          <a:xfrm>
            <a:off x="685800" y="1143000"/>
            <a:ext cx="5486400" cy="308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f698e8132e_0_12:notes"/>
          <p:cNvSpPr txBox="1"/>
          <p:nvPr>
            <p:ph idx="1" type="body"/>
          </p:nvPr>
        </p:nvSpPr>
        <p:spPr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Semana 4</a:t>
            </a:r>
            <a:endParaRPr/>
          </a:p>
        </p:txBody>
      </p:sp>
      <p:sp>
        <p:nvSpPr>
          <p:cNvPr id="67" name="Google Shape;67;g3f698e8132e_0_12:notes"/>
          <p:cNvSpPr txBox="1"/>
          <p:nvPr>
            <p:ph idx="12" type="sldNum"/>
          </p:nvPr>
        </p:nvSpPr>
        <p:spPr>
          <a:xfrm>
            <a:off x="3885010" y="8686801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698e8132e_0_22:notes"/>
          <p:cNvSpPr/>
          <p:nvPr>
            <p:ph idx="2" type="sldImg"/>
          </p:nvPr>
        </p:nvSpPr>
        <p:spPr>
          <a:xfrm>
            <a:off x="685800" y="1143000"/>
            <a:ext cx="5486400" cy="308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f698e8132e_0_22:notes"/>
          <p:cNvSpPr txBox="1"/>
          <p:nvPr>
            <p:ph idx="1" type="body"/>
          </p:nvPr>
        </p:nvSpPr>
        <p:spPr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Semana 4</a:t>
            </a:r>
            <a:endParaRPr/>
          </a:p>
        </p:txBody>
      </p:sp>
      <p:sp>
        <p:nvSpPr>
          <p:cNvPr id="77" name="Google Shape;77;g3f698e8132e_0_22:notes"/>
          <p:cNvSpPr txBox="1"/>
          <p:nvPr>
            <p:ph idx="12" type="sldNum"/>
          </p:nvPr>
        </p:nvSpPr>
        <p:spPr>
          <a:xfrm>
            <a:off x="3885010" y="8686801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698e8132e_0_32:notes"/>
          <p:cNvSpPr/>
          <p:nvPr>
            <p:ph idx="2" type="sldImg"/>
          </p:nvPr>
        </p:nvSpPr>
        <p:spPr>
          <a:xfrm>
            <a:off x="685800" y="1143000"/>
            <a:ext cx="5486400" cy="308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f698e8132e_0_32:notes"/>
          <p:cNvSpPr txBox="1"/>
          <p:nvPr>
            <p:ph idx="1" type="body"/>
          </p:nvPr>
        </p:nvSpPr>
        <p:spPr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Semana 4</a:t>
            </a:r>
            <a:endParaRPr/>
          </a:p>
        </p:txBody>
      </p:sp>
      <p:sp>
        <p:nvSpPr>
          <p:cNvPr id="87" name="Google Shape;87;g3f698e8132e_0_32:notes"/>
          <p:cNvSpPr txBox="1"/>
          <p:nvPr>
            <p:ph idx="12" type="sldNum"/>
          </p:nvPr>
        </p:nvSpPr>
        <p:spPr>
          <a:xfrm>
            <a:off x="3885010" y="8686801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98e8132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698e8132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698e8132e_0_103:notes"/>
          <p:cNvSpPr/>
          <p:nvPr>
            <p:ph idx="2" type="sldImg"/>
          </p:nvPr>
        </p:nvSpPr>
        <p:spPr>
          <a:xfrm>
            <a:off x="685800" y="1143000"/>
            <a:ext cx="5486400" cy="308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f698e8132e_0_103:notes"/>
          <p:cNvSpPr txBox="1"/>
          <p:nvPr>
            <p:ph idx="1" type="body"/>
          </p:nvPr>
        </p:nvSpPr>
        <p:spPr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Semana 4</a:t>
            </a:r>
            <a:endParaRPr/>
          </a:p>
        </p:txBody>
      </p:sp>
      <p:sp>
        <p:nvSpPr>
          <p:cNvPr id="108" name="Google Shape;108;g3f698e8132e_0_103:notes"/>
          <p:cNvSpPr txBox="1"/>
          <p:nvPr>
            <p:ph idx="12" type="sldNum"/>
          </p:nvPr>
        </p:nvSpPr>
        <p:spPr>
          <a:xfrm>
            <a:off x="3885010" y="8686801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824c94111_0_0:notes"/>
          <p:cNvSpPr/>
          <p:nvPr>
            <p:ph idx="2" type="sldImg"/>
          </p:nvPr>
        </p:nvSpPr>
        <p:spPr>
          <a:xfrm>
            <a:off x="685800" y="1143000"/>
            <a:ext cx="5486400" cy="308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7824c94111_0_0:notes"/>
          <p:cNvSpPr txBox="1"/>
          <p:nvPr>
            <p:ph idx="1" type="body"/>
          </p:nvPr>
        </p:nvSpPr>
        <p:spPr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Semana 4</a:t>
            </a:r>
            <a:endParaRPr/>
          </a:p>
        </p:txBody>
      </p:sp>
      <p:sp>
        <p:nvSpPr>
          <p:cNvPr id="119" name="Google Shape;119;g37824c94111_0_0:notes"/>
          <p:cNvSpPr txBox="1"/>
          <p:nvPr>
            <p:ph idx="12" type="sldNum"/>
          </p:nvPr>
        </p:nvSpPr>
        <p:spPr>
          <a:xfrm>
            <a:off x="3885010" y="8686801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824c94111_0_10:notes"/>
          <p:cNvSpPr/>
          <p:nvPr>
            <p:ph idx="2" type="sldImg"/>
          </p:nvPr>
        </p:nvSpPr>
        <p:spPr>
          <a:xfrm>
            <a:off x="685800" y="1143000"/>
            <a:ext cx="5486400" cy="308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7824c94111_0_10:notes"/>
          <p:cNvSpPr txBox="1"/>
          <p:nvPr>
            <p:ph idx="1" type="body"/>
          </p:nvPr>
        </p:nvSpPr>
        <p:spPr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Semana 4</a:t>
            </a:r>
            <a:endParaRPr/>
          </a:p>
        </p:txBody>
      </p:sp>
      <p:sp>
        <p:nvSpPr>
          <p:cNvPr id="131" name="Google Shape;131;g37824c94111_0_10:notes"/>
          <p:cNvSpPr txBox="1"/>
          <p:nvPr>
            <p:ph idx="12" type="sldNum"/>
          </p:nvPr>
        </p:nvSpPr>
        <p:spPr>
          <a:xfrm>
            <a:off x="3885010" y="8686801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824c94111_0_20:notes"/>
          <p:cNvSpPr/>
          <p:nvPr>
            <p:ph idx="2" type="sldImg"/>
          </p:nvPr>
        </p:nvSpPr>
        <p:spPr>
          <a:xfrm>
            <a:off x="685800" y="1143000"/>
            <a:ext cx="5486400" cy="308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7824c94111_0_20:notes"/>
          <p:cNvSpPr txBox="1"/>
          <p:nvPr>
            <p:ph idx="1" type="body"/>
          </p:nvPr>
        </p:nvSpPr>
        <p:spPr>
          <a:xfrm>
            <a:off x="685800" y="4399845"/>
            <a:ext cx="5486400" cy="3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Semana 4</a:t>
            </a:r>
            <a:endParaRPr/>
          </a:p>
        </p:txBody>
      </p:sp>
      <p:sp>
        <p:nvSpPr>
          <p:cNvPr id="142" name="Google Shape;142;g37824c94111_0_20:notes"/>
          <p:cNvSpPr txBox="1"/>
          <p:nvPr>
            <p:ph idx="12" type="sldNum"/>
          </p:nvPr>
        </p:nvSpPr>
        <p:spPr>
          <a:xfrm>
            <a:off x="3885010" y="8686801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 1">
  <p:cSld name="TITLE_15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2D1nfKl26MWFN5Rfq3RDyHzrcvTqaEKF/view?usp=drive_link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spreadsheets/d/1wb799XAt02HYQR9oSp2H1bIZqQOuF_oM1WB-6B5Ueig/edit?usp=drive_link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BC25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310100" y="347475"/>
            <a:ext cx="8523800" cy="478625"/>
            <a:chOff x="310100" y="347475"/>
            <a:chExt cx="8523800" cy="478625"/>
          </a:xfrm>
        </p:grpSpPr>
        <p:pic>
          <p:nvPicPr>
            <p:cNvPr id="59" name="Google Shape;59;p14"/>
            <p:cNvPicPr preferRelativeResize="0"/>
            <p:nvPr/>
          </p:nvPicPr>
          <p:blipFill rotWithShape="1">
            <a:blip r:embed="rId3">
              <a:alphaModFix amt="50000"/>
            </a:blip>
            <a:srcRect b="0" l="19478" r="23568" t="0"/>
            <a:stretch/>
          </p:blipFill>
          <p:spPr>
            <a:xfrm>
              <a:off x="310100" y="347475"/>
              <a:ext cx="272600" cy="478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4"/>
            <p:cNvPicPr preferRelativeResize="0"/>
            <p:nvPr/>
          </p:nvPicPr>
          <p:blipFill rotWithShape="1">
            <a:blip r:embed="rId3">
              <a:alphaModFix amt="50000"/>
            </a:blip>
            <a:srcRect b="0" l="19478" r="23568" t="0"/>
            <a:stretch/>
          </p:blipFill>
          <p:spPr>
            <a:xfrm>
              <a:off x="8561300" y="347475"/>
              <a:ext cx="272600" cy="478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1674009" y="2652400"/>
            <a:ext cx="5796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" sz="4000">
                <a:solidFill>
                  <a:srgbClr val="1F386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DEFINICIÓN Y VALIDACIÓN DEL PROBLEMA</a:t>
            </a:r>
            <a:endParaRPr b="1" i="0" sz="4000" u="none" cap="none" strike="noStrike">
              <a:solidFill>
                <a:srgbClr val="1F3864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058600" y="1096350"/>
            <a:ext cx="5026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lang="es" sz="8000">
                <a:solidFill>
                  <a:srgbClr val="1F3864"/>
                </a:solidFill>
                <a:latin typeface="Rowdies"/>
                <a:ea typeface="Rowdies"/>
                <a:cs typeface="Rowdies"/>
                <a:sym typeface="Rowdies"/>
              </a:rPr>
              <a:t>TAREA 1</a:t>
            </a:r>
            <a:endParaRPr b="1" i="0" sz="8000" u="none" cap="none" strike="noStrike">
              <a:solidFill>
                <a:srgbClr val="1F3864"/>
              </a:solidFill>
              <a:latin typeface="Rowdies"/>
              <a:ea typeface="Rowdies"/>
              <a:cs typeface="Rowdies"/>
              <a:sym typeface="Rowdi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737710" y="844319"/>
            <a:ext cx="7612500" cy="3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7376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ENTREGABLE ESPERADO:</a:t>
            </a:r>
            <a:endParaRPr b="1">
              <a:solidFill>
                <a:srgbClr val="07376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360001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Hind Siliguri"/>
                <a:ea typeface="Hind Siliguri"/>
                <a:cs typeface="Hind Siliguri"/>
                <a:sym typeface="Hind Siliguri"/>
              </a:rPr>
              <a:t>1</a:t>
            </a:r>
            <a:r>
              <a:rPr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Contextualización de la Unidad 1 en relación a la problemática a abordar, señalando afinidades y roles de las personas integrantes del equipo (Anexar </a:t>
            </a:r>
            <a:r>
              <a:rPr b="1"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CONTRATO DE EQUIPO</a:t>
            </a:r>
            <a:r>
              <a:rPr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</a:t>
            </a: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360001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2. Resultados Actividades Obligatorias Unidad 1:</a:t>
            </a:r>
            <a:endParaRPr b="1"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81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→</a:t>
            </a:r>
            <a:r>
              <a:rPr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b="1"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OBSERVACIÓN DE CAMPO</a:t>
            </a:r>
            <a:endParaRPr b="1"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81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→ ENTREVISTAS DE DIAGNÓSTICO (SUGERIDA)</a:t>
            </a: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81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→ MATRIZ APLICADA DEL PROBLEMA</a:t>
            </a: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25001" lvl="0" marL="10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→ ENTREVISTAS DE VALIDACIÓN DEL PROBLEMA (AL MENOS 1 POR INTEGRANTE DEL EQUIPO)</a:t>
            </a:r>
            <a:endParaRPr b="1"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360001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3. Procesamiento integrado de los resultados</a:t>
            </a: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360001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4. Conclusiones respecto a ajustes al problema y próximos pasos</a:t>
            </a:r>
            <a:endParaRPr sz="21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43434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70" name="Google Shape;70;p15"/>
          <p:cNvGrpSpPr/>
          <p:nvPr/>
        </p:nvGrpSpPr>
        <p:grpSpPr>
          <a:xfrm>
            <a:off x="6262066" y="320050"/>
            <a:ext cx="2881385" cy="678300"/>
            <a:chOff x="4727298" y="320040"/>
            <a:chExt cx="4416592" cy="678300"/>
          </a:xfrm>
        </p:grpSpPr>
        <p:sp>
          <p:nvSpPr>
            <p:cNvPr id="71" name="Google Shape;71;p15"/>
            <p:cNvSpPr/>
            <p:nvPr/>
          </p:nvSpPr>
          <p:spPr>
            <a:xfrm>
              <a:off x="5065690" y="320040"/>
              <a:ext cx="4078200" cy="678300"/>
            </a:xfrm>
            <a:prstGeom prst="rect">
              <a:avLst/>
            </a:prstGeom>
            <a:solidFill>
              <a:srgbClr val="07376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4727298" y="320040"/>
              <a:ext cx="694800" cy="678300"/>
            </a:xfrm>
            <a:prstGeom prst="ellipse">
              <a:avLst/>
            </a:prstGeom>
            <a:solidFill>
              <a:srgbClr val="07376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15"/>
          <p:cNvSpPr txBox="1"/>
          <p:nvPr/>
        </p:nvSpPr>
        <p:spPr>
          <a:xfrm>
            <a:off x="6945712" y="416495"/>
            <a:ext cx="187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" sz="2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TAREA 1</a:t>
            </a:r>
            <a:endParaRPr b="1" i="0" sz="26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632161" y="1096392"/>
            <a:ext cx="7378500" cy="3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rgbClr val="07376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ENTREGABLE ESPERADO:</a:t>
            </a:r>
            <a:endParaRPr b="1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Extensión</a:t>
            </a:r>
            <a:r>
              <a:rPr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 Portada con logotipos, títulos y datos formales (1 plana); Contenido (3-5 planas); Referencias en APA 7ma ed. y anexos (sin límite de extensión)</a:t>
            </a:r>
            <a:endParaRPr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s" sz="15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Formato</a:t>
            </a:r>
            <a:r>
              <a:rPr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 Arial 12, interlineado 1.15, márgenes de 2cm por lado, texto justificado. Deben respetarse formalidades mínimas en la organización del contenido (numeración de secciones, subsecciones, etc.) y consistencia en todo el texto por igual</a:t>
            </a:r>
            <a:br>
              <a:rPr lang="es" sz="1500">
                <a:solidFill>
                  <a:schemeClr val="dk1"/>
                </a:solidFill>
                <a:latin typeface="Hind Siliguri"/>
                <a:ea typeface="Hind Siliguri"/>
                <a:cs typeface="Hind Siliguri"/>
                <a:sym typeface="Hind Siliguri"/>
              </a:rPr>
            </a:br>
            <a:br>
              <a:rPr lang="es" sz="1500">
                <a:solidFill>
                  <a:schemeClr val="dk1"/>
                </a:solidFill>
                <a:latin typeface="Hind Siliguri"/>
                <a:ea typeface="Hind Siliguri"/>
                <a:cs typeface="Hind Siliguri"/>
                <a:sym typeface="Hind Siliguri"/>
              </a:rPr>
            </a:br>
            <a:r>
              <a:rPr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b="1" lang="es" sz="1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La entrega es en formato PDF</a:t>
            </a:r>
            <a:endParaRPr b="1" sz="1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360001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43434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80" name="Google Shape;80;p16"/>
          <p:cNvGrpSpPr/>
          <p:nvPr/>
        </p:nvGrpSpPr>
        <p:grpSpPr>
          <a:xfrm>
            <a:off x="6262066" y="320050"/>
            <a:ext cx="2881385" cy="678300"/>
            <a:chOff x="4727298" y="320040"/>
            <a:chExt cx="4416592" cy="678300"/>
          </a:xfrm>
        </p:grpSpPr>
        <p:sp>
          <p:nvSpPr>
            <p:cNvPr id="81" name="Google Shape;81;p16"/>
            <p:cNvSpPr/>
            <p:nvPr/>
          </p:nvSpPr>
          <p:spPr>
            <a:xfrm>
              <a:off x="5065690" y="320040"/>
              <a:ext cx="4078200" cy="678300"/>
            </a:xfrm>
            <a:prstGeom prst="rect">
              <a:avLst/>
            </a:prstGeom>
            <a:solidFill>
              <a:srgbClr val="07376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4727298" y="320040"/>
              <a:ext cx="694800" cy="678300"/>
            </a:xfrm>
            <a:prstGeom prst="ellipse">
              <a:avLst/>
            </a:prstGeom>
            <a:solidFill>
              <a:srgbClr val="07376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16"/>
          <p:cNvSpPr txBox="1"/>
          <p:nvPr/>
        </p:nvSpPr>
        <p:spPr>
          <a:xfrm>
            <a:off x="6945712" y="416495"/>
            <a:ext cx="1879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" sz="2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TAREA 1</a:t>
            </a:r>
            <a:endParaRPr b="1" i="0" sz="26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7"/>
          <p:cNvGrpSpPr/>
          <p:nvPr/>
        </p:nvGrpSpPr>
        <p:grpSpPr>
          <a:xfrm>
            <a:off x="4727298" y="320040"/>
            <a:ext cx="4416592" cy="678300"/>
            <a:chOff x="4727298" y="320040"/>
            <a:chExt cx="4416592" cy="678300"/>
          </a:xfrm>
        </p:grpSpPr>
        <p:sp>
          <p:nvSpPr>
            <p:cNvPr id="90" name="Google Shape;90;p17"/>
            <p:cNvSpPr/>
            <p:nvPr/>
          </p:nvSpPr>
          <p:spPr>
            <a:xfrm>
              <a:off x="5065690" y="320040"/>
              <a:ext cx="4078200" cy="678300"/>
            </a:xfrm>
            <a:prstGeom prst="rect">
              <a:avLst/>
            </a:prstGeom>
            <a:solidFill>
              <a:srgbClr val="07376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4727298" y="320040"/>
              <a:ext cx="694800" cy="678300"/>
            </a:xfrm>
            <a:prstGeom prst="ellipse">
              <a:avLst/>
            </a:prstGeom>
            <a:solidFill>
              <a:srgbClr val="07376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17">
            <a:hlinkClick r:id="rId3"/>
          </p:cNvPr>
          <p:cNvSpPr txBox="1"/>
          <p:nvPr/>
        </p:nvSpPr>
        <p:spPr>
          <a:xfrm>
            <a:off x="5045500" y="428325"/>
            <a:ext cx="4093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" sz="23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Rúbrica de Evaluación T1</a:t>
            </a:r>
            <a:endParaRPr b="1" i="0" sz="23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268310" y="412924"/>
            <a:ext cx="1601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200" u="none" cap="none" strike="noStrike">
                <a:solidFill>
                  <a:srgbClr val="155B5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s" sz="2500" u="none" cap="none" strike="noStrike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Tarea 1</a:t>
            </a:r>
            <a:endParaRPr b="1" i="0" sz="3100" u="none" cap="none" strike="noStrike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750" y="1267515"/>
            <a:ext cx="8839200" cy="2145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BC25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8"/>
          <p:cNvGrpSpPr/>
          <p:nvPr/>
        </p:nvGrpSpPr>
        <p:grpSpPr>
          <a:xfrm>
            <a:off x="310100" y="347475"/>
            <a:ext cx="8523800" cy="478625"/>
            <a:chOff x="310100" y="347475"/>
            <a:chExt cx="8523800" cy="478625"/>
          </a:xfrm>
        </p:grpSpPr>
        <p:pic>
          <p:nvPicPr>
            <p:cNvPr id="100" name="Google Shape;100;p18"/>
            <p:cNvPicPr preferRelativeResize="0"/>
            <p:nvPr/>
          </p:nvPicPr>
          <p:blipFill rotWithShape="1">
            <a:blip r:embed="rId3">
              <a:alphaModFix amt="50000"/>
            </a:blip>
            <a:srcRect b="0" l="19478" r="23568" t="0"/>
            <a:stretch/>
          </p:blipFill>
          <p:spPr>
            <a:xfrm>
              <a:off x="310100" y="347475"/>
              <a:ext cx="272600" cy="478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8"/>
            <p:cNvPicPr preferRelativeResize="0"/>
            <p:nvPr/>
          </p:nvPicPr>
          <p:blipFill rotWithShape="1">
            <a:blip r:embed="rId3">
              <a:alphaModFix amt="50000"/>
            </a:blip>
            <a:srcRect b="0" l="19478" r="23568" t="0"/>
            <a:stretch/>
          </p:blipFill>
          <p:spPr>
            <a:xfrm>
              <a:off x="8561300" y="347475"/>
              <a:ext cx="272600" cy="478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875097" y="2819200"/>
            <a:ext cx="7393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" sz="4000">
                <a:solidFill>
                  <a:srgbClr val="1F386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PLAN</a:t>
            </a:r>
            <a:r>
              <a:rPr b="1" lang="es" sz="4000">
                <a:solidFill>
                  <a:srgbClr val="1F386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DE TRABAJO POR SEMANAS</a:t>
            </a:r>
            <a:endParaRPr b="1" i="0" sz="4000" u="none" cap="none" strike="noStrike">
              <a:solidFill>
                <a:srgbClr val="1F3864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2058600" y="1096350"/>
            <a:ext cx="5026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lang="es" sz="8000">
                <a:solidFill>
                  <a:srgbClr val="1F3864"/>
                </a:solidFill>
                <a:latin typeface="Rowdies"/>
                <a:ea typeface="Rowdies"/>
                <a:cs typeface="Rowdies"/>
                <a:sym typeface="Rowdies"/>
              </a:rPr>
              <a:t>TAREA 1</a:t>
            </a:r>
            <a:endParaRPr b="1" i="0" sz="8000" u="none" cap="none" strike="noStrike">
              <a:solidFill>
                <a:srgbClr val="1F3864"/>
              </a:solidFill>
              <a:latin typeface="Rowdies"/>
              <a:ea typeface="Rowdies"/>
              <a:cs typeface="Rowdies"/>
              <a:sym typeface="Rowdie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/>
        </p:nvSpPr>
        <p:spPr>
          <a:xfrm>
            <a:off x="115910" y="412924"/>
            <a:ext cx="1601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200" u="none" cap="none" strike="noStrike">
                <a:solidFill>
                  <a:srgbClr val="155B54"/>
                </a:solidFill>
                <a:latin typeface="Roboto"/>
                <a:ea typeface="Roboto"/>
                <a:cs typeface="Roboto"/>
                <a:sym typeface="Roboto"/>
              </a:rPr>
              <a:t> Tarea 1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632161" y="1020192"/>
            <a:ext cx="7378500" cy="3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1er</a:t>
            </a:r>
            <a:r>
              <a:rPr b="1" lang="es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Entregable [se trabaja en semana 2]:</a:t>
            </a:r>
            <a:endParaRPr b="1" sz="17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AutoNum type="arabicPeriod"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Se sugiere </a:t>
            </a:r>
            <a:r>
              <a:rPr b="1"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crear un grupo</a:t>
            </a: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de WhatsApp u otro medio. Aquel que les acomode para organizarse a lo largo del semestre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AutoNum type="arabicPeriod"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Ingresen a la planilla de “</a:t>
            </a:r>
            <a:r>
              <a:rPr lang="es" sz="1300" u="sng">
                <a:solidFill>
                  <a:schemeClr val="accent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Contrato de Equipo</a:t>
            </a: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” y hagan una copia. Luego conversen y registren: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89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Nombre de cada integrante.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89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1"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Nombre tentativo</a:t>
            </a: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para el equipo.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89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1"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Valores </a:t>
            </a: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del equipo</a:t>
            </a:r>
            <a:r>
              <a:rPr b="1"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y normas</a:t>
            </a: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asociadas a dichos valores (ej: respeto, responsabilidad, puntualidad, apertura al error, etc).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89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1"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Necesidades específicas</a:t>
            </a: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que identifican como equipo así como los </a:t>
            </a:r>
            <a:r>
              <a:rPr b="1"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roles y tareas específicas</a:t>
            </a: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para cubrirlos.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89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b="1"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“No negociables”</a:t>
            </a: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del equipo (aquello que no están dispuestos a transar).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AutoNum type="arabicPeriod" startAt="3"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Revisen que el contrato esté completo y que todas las personas firmen que lo entienden y aceptan.</a:t>
            </a:r>
            <a:endParaRPr b="1"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43434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12" name="Google Shape;112;p19"/>
          <p:cNvGrpSpPr/>
          <p:nvPr/>
        </p:nvGrpSpPr>
        <p:grpSpPr>
          <a:xfrm>
            <a:off x="4727298" y="320040"/>
            <a:ext cx="4416592" cy="678300"/>
            <a:chOff x="4727298" y="320040"/>
            <a:chExt cx="4416592" cy="678300"/>
          </a:xfrm>
        </p:grpSpPr>
        <p:sp>
          <p:nvSpPr>
            <p:cNvPr id="113" name="Google Shape;113;p19"/>
            <p:cNvSpPr/>
            <p:nvPr/>
          </p:nvSpPr>
          <p:spPr>
            <a:xfrm>
              <a:off x="5065690" y="320040"/>
              <a:ext cx="4078200" cy="678300"/>
            </a:xfrm>
            <a:prstGeom prst="rect">
              <a:avLst/>
            </a:prstGeom>
            <a:solidFill>
              <a:srgbClr val="07376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9"/>
            <p:cNvSpPr/>
            <p:nvPr/>
          </p:nvSpPr>
          <p:spPr>
            <a:xfrm>
              <a:off x="4727298" y="320040"/>
              <a:ext cx="694800" cy="678300"/>
            </a:xfrm>
            <a:prstGeom prst="ellipse">
              <a:avLst/>
            </a:prstGeom>
            <a:solidFill>
              <a:srgbClr val="07376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19"/>
          <p:cNvSpPr txBox="1"/>
          <p:nvPr/>
        </p:nvSpPr>
        <p:spPr>
          <a:xfrm>
            <a:off x="5314411" y="428318"/>
            <a:ext cx="358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Observación de campo</a:t>
            </a:r>
            <a:endParaRPr b="1" i="0" sz="2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/>
        </p:nvSpPr>
        <p:spPr>
          <a:xfrm>
            <a:off x="115910" y="412924"/>
            <a:ext cx="1601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200" u="none" cap="none" strike="noStrike">
                <a:solidFill>
                  <a:srgbClr val="155B54"/>
                </a:solidFill>
                <a:latin typeface="Roboto"/>
                <a:ea typeface="Roboto"/>
                <a:cs typeface="Roboto"/>
                <a:sym typeface="Roboto"/>
              </a:rPr>
              <a:t> Tarea 1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632161" y="1020192"/>
            <a:ext cx="7378500" cy="3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2do</a:t>
            </a:r>
            <a:r>
              <a:rPr b="1" lang="es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Entregable [se trabaja entre semanas 2 y 3]:</a:t>
            </a:r>
            <a:endParaRPr b="1" sz="17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Observación de Campo</a:t>
            </a:r>
            <a:endParaRPr b="1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AutoNum type="arabicPeriod"/>
            </a:pPr>
            <a:r>
              <a:rPr b="0" i="0" lang="es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Planificar observaciones de campo, a partir de las técnicas aprendidas en clase o e</a:t>
            </a:r>
            <a:r>
              <a:rPr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 el curso CD1100 - </a:t>
            </a:r>
            <a:r>
              <a:rPr i="1"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Desafío de Innovación en Ingeniería y Ciencias</a:t>
            </a:r>
            <a:r>
              <a:rPr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(</a:t>
            </a:r>
            <a:r>
              <a:rPr b="0" i="0" lang="es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elegir al menos una técnica) </a:t>
            </a:r>
            <a:endParaRPr b="0" i="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AutoNum type="arabicPeriod"/>
            </a:pPr>
            <a:r>
              <a:rPr b="0" i="0" lang="es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Salir a terreno a realizar observaciones de campo, </a:t>
            </a:r>
            <a:r>
              <a:rPr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aplicando</a:t>
            </a:r>
            <a:r>
              <a:rPr b="0" i="0" lang="es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las técnicas de observación </a:t>
            </a:r>
            <a:r>
              <a:rPr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establecidas</a:t>
            </a:r>
            <a:r>
              <a:rPr b="0" i="0" lang="es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Cada integrante del equipo debe realizar </a:t>
            </a:r>
            <a:r>
              <a:rPr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observaciones.</a:t>
            </a:r>
            <a:r>
              <a:rPr b="0" i="0" lang="es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AutoNum type="arabicPeriod"/>
            </a:pPr>
            <a:r>
              <a:rPr b="0" i="0" lang="es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Realizar registros. Utilizando algunos de los medios mencionados: Notas de campo / Dibujos / Fotografías / Vídeos / Grabación de Audios / Entrevistas / Encuestas.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43434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23" name="Google Shape;123;p20"/>
          <p:cNvGrpSpPr/>
          <p:nvPr/>
        </p:nvGrpSpPr>
        <p:grpSpPr>
          <a:xfrm>
            <a:off x="4727298" y="320040"/>
            <a:ext cx="4416592" cy="678300"/>
            <a:chOff x="4727298" y="320040"/>
            <a:chExt cx="4416592" cy="678300"/>
          </a:xfrm>
        </p:grpSpPr>
        <p:sp>
          <p:nvSpPr>
            <p:cNvPr id="124" name="Google Shape;124;p20"/>
            <p:cNvSpPr/>
            <p:nvPr/>
          </p:nvSpPr>
          <p:spPr>
            <a:xfrm>
              <a:off x="5065690" y="320040"/>
              <a:ext cx="4078200" cy="678300"/>
            </a:xfrm>
            <a:prstGeom prst="rect">
              <a:avLst/>
            </a:prstGeom>
            <a:solidFill>
              <a:srgbClr val="07376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0"/>
            <p:cNvSpPr/>
            <p:nvPr/>
          </p:nvSpPr>
          <p:spPr>
            <a:xfrm>
              <a:off x="4727298" y="320040"/>
              <a:ext cx="694800" cy="678300"/>
            </a:xfrm>
            <a:prstGeom prst="ellipse">
              <a:avLst/>
            </a:prstGeom>
            <a:solidFill>
              <a:srgbClr val="07376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20"/>
          <p:cNvSpPr txBox="1"/>
          <p:nvPr/>
        </p:nvSpPr>
        <p:spPr>
          <a:xfrm>
            <a:off x="5314411" y="428318"/>
            <a:ext cx="358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Observación de campo</a:t>
            </a:r>
            <a:endParaRPr b="1" i="0" sz="2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588500" y="4398650"/>
            <a:ext cx="7574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highlight>
                  <a:schemeClr val="lt1"/>
                </a:highlight>
                <a:latin typeface="Libre Franklin"/>
                <a:ea typeface="Libre Franklin"/>
                <a:cs typeface="Libre Franklin"/>
                <a:sym typeface="Libre Franklin"/>
              </a:rPr>
              <a:t>NOTA: Independiente que continúen el proyecto, siempre se puede volver a observar el contexto y usar otras herramientas para hacerlo.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/>
        </p:nvSpPr>
        <p:spPr>
          <a:xfrm>
            <a:off x="115910" y="412924"/>
            <a:ext cx="1601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200" u="none" cap="none" strike="noStrike">
                <a:solidFill>
                  <a:srgbClr val="155B54"/>
                </a:solidFill>
                <a:latin typeface="Roboto"/>
                <a:ea typeface="Roboto"/>
                <a:cs typeface="Roboto"/>
                <a:sym typeface="Roboto"/>
              </a:rPr>
              <a:t> Tarea 1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632161" y="1020192"/>
            <a:ext cx="7378500" cy="3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3er</a:t>
            </a:r>
            <a:r>
              <a:rPr b="1" lang="es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Entregable [se trabaja entre semanas 3 y 4]:</a:t>
            </a:r>
            <a:endParaRPr b="1" sz="17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Matriz aplicada del problema y planificación de su validación</a:t>
            </a:r>
            <a:endParaRPr b="1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Franklin"/>
              <a:buAutoNum type="arabicPeriod" startAt="4"/>
            </a:pPr>
            <a:r>
              <a:rPr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 partir de la información obtenida tanto en las observaciones de campo como en búsquedas bibliográficas, construir la matriz aplicada del problema a abordar. La matriz debe distinguir entre usuarios y clientes.</a:t>
            </a:r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AutoNum type="arabicPeriod" startAt="4"/>
            </a:pPr>
            <a:r>
              <a:rPr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Planificar y aplicar actividades de prueba y validación del problema. Entre las actividades cada integrante del equipo </a:t>
            </a:r>
            <a:r>
              <a:rPr b="1"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DEBE</a:t>
            </a:r>
            <a:r>
              <a:rPr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b="1"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realizar al menos una entrevista con usuarios/clientes.</a:t>
            </a:r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s">
                <a:solidFill>
                  <a:schemeClr val="dk1"/>
                </a:solidFill>
                <a:highlight>
                  <a:srgbClr val="FFFFFF"/>
                </a:highlight>
                <a:latin typeface="Libre Franklin"/>
                <a:ea typeface="Libre Franklin"/>
                <a:cs typeface="Libre Franklin"/>
                <a:sym typeface="Libre Franklin"/>
              </a:rPr>
              <a:t>NOTA: Es importante que utilicen información bibliográfica relevante para desarrollar entrevistas de validación valiosas que permitan refutar o respaldar hipótesis con usuarios/clientes.</a:t>
            </a:r>
            <a:endParaRPr b="0" i="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43434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35" name="Google Shape;135;p21"/>
          <p:cNvGrpSpPr/>
          <p:nvPr/>
        </p:nvGrpSpPr>
        <p:grpSpPr>
          <a:xfrm>
            <a:off x="4727298" y="320040"/>
            <a:ext cx="4416592" cy="678300"/>
            <a:chOff x="4727298" y="320040"/>
            <a:chExt cx="4416592" cy="678300"/>
          </a:xfrm>
        </p:grpSpPr>
        <p:sp>
          <p:nvSpPr>
            <p:cNvPr id="136" name="Google Shape;136;p21"/>
            <p:cNvSpPr/>
            <p:nvPr/>
          </p:nvSpPr>
          <p:spPr>
            <a:xfrm>
              <a:off x="5065690" y="320040"/>
              <a:ext cx="4078200" cy="678300"/>
            </a:xfrm>
            <a:prstGeom prst="rect">
              <a:avLst/>
            </a:prstGeom>
            <a:solidFill>
              <a:srgbClr val="07376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1"/>
            <p:cNvSpPr/>
            <p:nvPr/>
          </p:nvSpPr>
          <p:spPr>
            <a:xfrm>
              <a:off x="4727298" y="320040"/>
              <a:ext cx="694800" cy="678300"/>
            </a:xfrm>
            <a:prstGeom prst="ellipse">
              <a:avLst/>
            </a:prstGeom>
            <a:solidFill>
              <a:srgbClr val="07376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21"/>
          <p:cNvSpPr txBox="1"/>
          <p:nvPr/>
        </p:nvSpPr>
        <p:spPr>
          <a:xfrm>
            <a:off x="5018949" y="428325"/>
            <a:ext cx="387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" sz="2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MAP y diseño validación</a:t>
            </a:r>
            <a:endParaRPr b="1" i="0" sz="2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/>
        </p:nvSpPr>
        <p:spPr>
          <a:xfrm>
            <a:off x="115910" y="412924"/>
            <a:ext cx="1601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200" u="none" cap="none" strike="noStrike">
                <a:solidFill>
                  <a:srgbClr val="155B54"/>
                </a:solidFill>
                <a:latin typeface="Roboto"/>
                <a:ea typeface="Roboto"/>
                <a:cs typeface="Roboto"/>
                <a:sym typeface="Roboto"/>
              </a:rPr>
              <a:t> Tarea 1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632161" y="1020192"/>
            <a:ext cx="7378500" cy="3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4to </a:t>
            </a:r>
            <a:r>
              <a:rPr b="1" lang="es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Entregable [se trabaja entre semanas 5 y 6]</a:t>
            </a:r>
            <a:endParaRPr b="1" sz="17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Validación del Problema</a:t>
            </a:r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25000" lvl="0" marL="314999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6. </a:t>
            </a:r>
            <a:r>
              <a:rPr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Ejecutar las actividades de validación planificadas, realizando las entrevistas con usuarios/clientes, </a:t>
            </a:r>
            <a:r>
              <a:rPr b="1"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registrando la evidencia y los principales hallazgos </a:t>
            </a:r>
            <a:r>
              <a:rPr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obtenidos.</a:t>
            </a:r>
            <a:endParaRPr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25000" lvl="0" marL="314999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7. Analizar los resultados de la validación, </a:t>
            </a:r>
            <a:r>
              <a:rPr b="1"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contrastándolos con las hipótesis y requerimientos de la matriz aplicada del problema</a:t>
            </a:r>
            <a:r>
              <a:rPr lang="es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para determinar cuáles se respaldan, cuáles se cuestionan y qué ajustes deben realizarse.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highlight>
                <a:srgbClr val="FFFFFF"/>
              </a:highlight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43434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46" name="Google Shape;146;p22"/>
          <p:cNvGrpSpPr/>
          <p:nvPr/>
        </p:nvGrpSpPr>
        <p:grpSpPr>
          <a:xfrm>
            <a:off x="4727298" y="320040"/>
            <a:ext cx="4416592" cy="678300"/>
            <a:chOff x="4727298" y="320040"/>
            <a:chExt cx="4416592" cy="678300"/>
          </a:xfrm>
        </p:grpSpPr>
        <p:sp>
          <p:nvSpPr>
            <p:cNvPr id="147" name="Google Shape;147;p22"/>
            <p:cNvSpPr/>
            <p:nvPr/>
          </p:nvSpPr>
          <p:spPr>
            <a:xfrm>
              <a:off x="5065690" y="320040"/>
              <a:ext cx="4078200" cy="678300"/>
            </a:xfrm>
            <a:prstGeom prst="rect">
              <a:avLst/>
            </a:prstGeom>
            <a:solidFill>
              <a:srgbClr val="07376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2"/>
            <p:cNvSpPr/>
            <p:nvPr/>
          </p:nvSpPr>
          <p:spPr>
            <a:xfrm>
              <a:off x="4727298" y="320040"/>
              <a:ext cx="694800" cy="678300"/>
            </a:xfrm>
            <a:prstGeom prst="ellipse">
              <a:avLst/>
            </a:prstGeom>
            <a:solidFill>
              <a:srgbClr val="07376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" name="Google Shape;149;p22"/>
          <p:cNvSpPr txBox="1"/>
          <p:nvPr/>
        </p:nvSpPr>
        <p:spPr>
          <a:xfrm>
            <a:off x="5001349" y="428325"/>
            <a:ext cx="389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" sz="2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Validación del Problema</a:t>
            </a:r>
            <a:endParaRPr b="1" i="0" sz="2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